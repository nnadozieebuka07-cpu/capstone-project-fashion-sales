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28" d="100"/>
          <a:sy n="28" d="100"/>
        </p:scale>
        <p:origin x="128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F34DA-9D0A-51BE-0433-A13C7964A6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BAD686-11E1-E7E8-34D7-BFF157E53C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E8C38A-35B9-54EA-3A51-9666F005B3E0}"/>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5" name="Footer Placeholder 4">
            <a:extLst>
              <a:ext uri="{FF2B5EF4-FFF2-40B4-BE49-F238E27FC236}">
                <a16:creationId xmlns:a16="http://schemas.microsoft.com/office/drawing/2014/main" id="{314DDA10-39B6-96E7-B2A5-3EB216F20B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A3C9A8-6F57-A789-E8B4-A86FEF9978A4}"/>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2694164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C0A33-7D17-BB47-8438-55988F945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BDD1E0-3808-8E0B-6624-2C339DE59C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E2AECA-F93C-4600-7CA9-48ACE799FB68}"/>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5" name="Footer Placeholder 4">
            <a:extLst>
              <a:ext uri="{FF2B5EF4-FFF2-40B4-BE49-F238E27FC236}">
                <a16:creationId xmlns:a16="http://schemas.microsoft.com/office/drawing/2014/main" id="{78DFD1FF-4E93-B3E1-BEB2-E51C51E2BF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FF363B-0319-B9DC-DCBC-E46A7336A8FC}"/>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343422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BA637-7DC5-23CE-5D1E-AAF51AAE4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70A6D3-F91E-AC69-BA3F-CF246EF9C8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F20E02-8125-D581-C6C6-9BDB9BE5113C}"/>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5" name="Footer Placeholder 4">
            <a:extLst>
              <a:ext uri="{FF2B5EF4-FFF2-40B4-BE49-F238E27FC236}">
                <a16:creationId xmlns:a16="http://schemas.microsoft.com/office/drawing/2014/main" id="{50F55A5F-5105-4B03-3F22-8B64A30A18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007B04-D265-3F0C-9C3B-E5522760E2F0}"/>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4056538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60C7B-39EA-2D23-93DF-5A88535754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E5704E-44A7-EEC7-E918-DAF7D339F5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ADFC06-F787-18E5-DD78-73C9A78BAE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13E01A-EF6A-4C74-6445-162FE87D03B2}"/>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6" name="Footer Placeholder 5">
            <a:extLst>
              <a:ext uri="{FF2B5EF4-FFF2-40B4-BE49-F238E27FC236}">
                <a16:creationId xmlns:a16="http://schemas.microsoft.com/office/drawing/2014/main" id="{E508EB85-CCD8-3696-863C-F8E40E38C0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272E6-42ED-C326-4086-9B1A53C75A9E}"/>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3731132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AE0EB-6234-B35C-62F6-15199E510C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03AA4-849A-17C2-C2CA-9CD67045F2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1AC8B0-4BFB-78F9-73EC-DD61F7BE2C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37B557-46E3-8731-3149-1128851814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E6AE16-2EB6-7616-8785-4CDB5AF95F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67E71D-797C-88EB-46C5-F4A28C7EE307}"/>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8" name="Footer Placeholder 7">
            <a:extLst>
              <a:ext uri="{FF2B5EF4-FFF2-40B4-BE49-F238E27FC236}">
                <a16:creationId xmlns:a16="http://schemas.microsoft.com/office/drawing/2014/main" id="{66527D5F-D5A4-3A4F-A064-20B7B0BBF1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E952D5-DF43-216D-82FF-D46D93ADE0AD}"/>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2152955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1EEBD-FBE6-2AB6-E080-67258D5943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A4921F-ACBC-A8B5-F096-9CCA388BD20D}"/>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4" name="Footer Placeholder 3">
            <a:extLst>
              <a:ext uri="{FF2B5EF4-FFF2-40B4-BE49-F238E27FC236}">
                <a16:creationId xmlns:a16="http://schemas.microsoft.com/office/drawing/2014/main" id="{54B5BDAD-A015-21E3-2038-2525F5EE98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7AF328-9899-B12A-D4CD-BA3D06622BA0}"/>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1347022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0CD362-723A-6380-4903-25E978D94D4F}"/>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3" name="Footer Placeholder 2">
            <a:extLst>
              <a:ext uri="{FF2B5EF4-FFF2-40B4-BE49-F238E27FC236}">
                <a16:creationId xmlns:a16="http://schemas.microsoft.com/office/drawing/2014/main" id="{E79A6BE5-BA72-733B-64C8-C591B68D1A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85BFED-6921-E553-CCE0-93415C82B4A5}"/>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48795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752F-D5A7-B5D3-2DB2-8328B1B074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28C21-53CE-18A3-FF2E-445CEDB097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C9539D-1FBC-B365-7BF9-14A8591E3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41E6F-9741-5D80-4AC2-4F541D188C9B}"/>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6" name="Footer Placeholder 5">
            <a:extLst>
              <a:ext uri="{FF2B5EF4-FFF2-40B4-BE49-F238E27FC236}">
                <a16:creationId xmlns:a16="http://schemas.microsoft.com/office/drawing/2014/main" id="{A37EC591-03C7-918C-BAB3-79C7C045CB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6C649-2910-0D05-B500-A6AFE56B5186}"/>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24108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043C8-B1BB-C658-45B9-C4B3E488EE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4CA37D-7AC4-2A74-6165-FDD96A62C92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63C8C2-C2B2-2300-35D3-CAAC4641FB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4AEDAA-C6AF-F064-78E0-217310DE65F6}"/>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6" name="Footer Placeholder 5">
            <a:extLst>
              <a:ext uri="{FF2B5EF4-FFF2-40B4-BE49-F238E27FC236}">
                <a16:creationId xmlns:a16="http://schemas.microsoft.com/office/drawing/2014/main" id="{8E1B4CEB-8629-AF34-6BF6-91980D5F76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F6D6E8-916F-F9DF-274D-483E8A62D0CC}"/>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3469267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BE41-FB90-194B-A1E4-5FDFC6AD4F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17C7AA-3A89-FCFC-0F49-19263CDF7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E5ACD-6298-A564-052E-2E52F31B82BE}"/>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5" name="Footer Placeholder 4">
            <a:extLst>
              <a:ext uri="{FF2B5EF4-FFF2-40B4-BE49-F238E27FC236}">
                <a16:creationId xmlns:a16="http://schemas.microsoft.com/office/drawing/2014/main" id="{58F8162A-6661-4301-032C-8960DFAF4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BF8BF-66B8-9407-3AA2-3874B369BA13}"/>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4097672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FAC680-E7B9-040D-8ADA-83DCCE2106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8CBE01-E8F4-9A48-8AAF-FAD38EBB5A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0E1026-1C3F-1A64-3B81-CD6CF1B0C61F}"/>
              </a:ext>
            </a:extLst>
          </p:cNvPr>
          <p:cNvSpPr>
            <a:spLocks noGrp="1"/>
          </p:cNvSpPr>
          <p:nvPr>
            <p:ph type="dt" sz="half" idx="10"/>
          </p:nvPr>
        </p:nvSpPr>
        <p:spPr/>
        <p:txBody>
          <a:bodyPr/>
          <a:lstStyle/>
          <a:p>
            <a:fld id="{D9C1B346-A161-481F-9E08-34E059F20494}" type="datetimeFigureOut">
              <a:rPr lang="en-US" smtClean="0"/>
              <a:t>10/23/2026</a:t>
            </a:fld>
            <a:endParaRPr lang="en-US"/>
          </a:p>
        </p:txBody>
      </p:sp>
      <p:sp>
        <p:nvSpPr>
          <p:cNvPr id="5" name="Footer Placeholder 4">
            <a:extLst>
              <a:ext uri="{FF2B5EF4-FFF2-40B4-BE49-F238E27FC236}">
                <a16:creationId xmlns:a16="http://schemas.microsoft.com/office/drawing/2014/main" id="{164DCBD9-2845-7A72-D34D-972DB1CFBD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EA2AA0-7256-9410-D18F-EC37AB67C946}"/>
              </a:ext>
            </a:extLst>
          </p:cNvPr>
          <p:cNvSpPr>
            <a:spLocks noGrp="1"/>
          </p:cNvSpPr>
          <p:nvPr>
            <p:ph type="sldNum" sz="quarter" idx="12"/>
          </p:nvPr>
        </p:nvSpPr>
        <p:spPr/>
        <p:txBody>
          <a:bodyPr/>
          <a:lstStyle/>
          <a:p>
            <a:fld id="{179864B6-3A0B-4248-AE40-403C2A9F07C4}" type="slidenum">
              <a:rPr lang="en-US" smtClean="0"/>
              <a:t>‹#›</a:t>
            </a:fld>
            <a:endParaRPr lang="en-US"/>
          </a:p>
        </p:txBody>
      </p:sp>
    </p:spTree>
    <p:extLst>
      <p:ext uri="{BB962C8B-B14F-4D97-AF65-F5344CB8AC3E}">
        <p14:creationId xmlns:p14="http://schemas.microsoft.com/office/powerpoint/2010/main" val="327951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713863-FDAB-D8D2-C6FF-5BDA5F8447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B1C256-94FB-E5D6-D456-B206DA154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647B3E-30ED-D740-0D5A-0A5C59AA6A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C1B346-A161-481F-9E08-34E059F20494}" type="datetimeFigureOut">
              <a:rPr lang="en-US" smtClean="0"/>
              <a:t>10/23/2026</a:t>
            </a:fld>
            <a:endParaRPr lang="en-US"/>
          </a:p>
        </p:txBody>
      </p:sp>
      <p:sp>
        <p:nvSpPr>
          <p:cNvPr id="5" name="Footer Placeholder 4">
            <a:extLst>
              <a:ext uri="{FF2B5EF4-FFF2-40B4-BE49-F238E27FC236}">
                <a16:creationId xmlns:a16="http://schemas.microsoft.com/office/drawing/2014/main" id="{D2B712BA-833D-FFB9-9F30-897BD1568F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C0C650-8A5F-1720-0D9F-518368D77F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9864B6-3A0B-4248-AE40-403C2A9F07C4}" type="slidenum">
              <a:rPr lang="en-US" smtClean="0"/>
              <a:t>‹#›</a:t>
            </a:fld>
            <a:endParaRPr lang="en-US"/>
          </a:p>
        </p:txBody>
      </p:sp>
    </p:spTree>
    <p:extLst>
      <p:ext uri="{BB962C8B-B14F-4D97-AF65-F5344CB8AC3E}">
        <p14:creationId xmlns:p14="http://schemas.microsoft.com/office/powerpoint/2010/main" val="1677022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635D5-5C7D-AD69-C182-244B5011076C}"/>
              </a:ext>
            </a:extLst>
          </p:cNvPr>
          <p:cNvSpPr>
            <a:spLocks noGrp="1"/>
          </p:cNvSpPr>
          <p:nvPr>
            <p:ph type="ctrTitle"/>
          </p:nvPr>
        </p:nvSpPr>
        <p:spPr/>
        <p:txBody>
          <a:bodyPr>
            <a:normAutofit fontScale="90000"/>
          </a:bodyPr>
          <a:lstStyle/>
          <a:p>
            <a:pPr fontAlgn="t"/>
            <a:r>
              <a:rPr lang="en-US" b="1" dirty="0"/>
              <a:t>Fashion Boutique Sales Analysis</a:t>
            </a:r>
            <a:br>
              <a:rPr lang="en-US" dirty="0"/>
            </a:br>
            <a:r>
              <a:rPr lang="en-US" dirty="0"/>
              <a:t>Capstone Project</a:t>
            </a:r>
            <a:br>
              <a:rPr lang="en-US" dirty="0"/>
            </a:br>
            <a:r>
              <a:rPr lang="en-US" dirty="0"/>
              <a:t>Prepared by: </a:t>
            </a:r>
            <a:r>
              <a:rPr lang="en-US" dirty="0" err="1"/>
              <a:t>Ebuka</a:t>
            </a:r>
            <a:r>
              <a:rPr lang="en-US" dirty="0"/>
              <a:t> </a:t>
            </a:r>
            <a:r>
              <a:rPr lang="en-US" dirty="0" err="1"/>
              <a:t>Nnadozie</a:t>
            </a:r>
            <a:br>
              <a:rPr lang="en-US" dirty="0"/>
            </a:br>
            <a:endParaRPr lang="en-US" dirty="0"/>
          </a:p>
        </p:txBody>
      </p:sp>
      <p:sp>
        <p:nvSpPr>
          <p:cNvPr id="3" name="Subtitle 2">
            <a:extLst>
              <a:ext uri="{FF2B5EF4-FFF2-40B4-BE49-F238E27FC236}">
                <a16:creationId xmlns:a16="http://schemas.microsoft.com/office/drawing/2014/main" id="{87D72953-B979-E601-8768-01C334D944E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4665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027EC-09C3-3887-E2E0-A2A44A2DFC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5234B2-30B6-F29B-4850-CFBF5EE1CF25}"/>
              </a:ext>
            </a:extLst>
          </p:cNvPr>
          <p:cNvSpPr>
            <a:spLocks noGrp="1"/>
          </p:cNvSpPr>
          <p:nvPr>
            <p:ph idx="1"/>
          </p:nvPr>
        </p:nvSpPr>
        <p:spPr/>
        <p:txBody>
          <a:bodyPr>
            <a:normAutofit lnSpcReduction="10000"/>
          </a:bodyPr>
          <a:lstStyle/>
          <a:p>
            <a:pPr fontAlgn="t">
              <a:buNone/>
            </a:pPr>
            <a:r>
              <a:rPr lang="en-US" b="1" dirty="0"/>
              <a:t>Introduction</a:t>
            </a:r>
            <a:endParaRPr lang="en-US" dirty="0"/>
          </a:p>
          <a:p>
            <a:pPr fontAlgn="t">
              <a:buNone/>
            </a:pPr>
            <a:r>
              <a:rPr lang="en-US" dirty="0"/>
              <a:t>This project analyzes fashion boutique inventory data to identify trends in:</a:t>
            </a:r>
          </a:p>
          <a:p>
            <a:pPr marL="342900" lvl="0" indent="-342900" fontAlgn="t"/>
            <a:r>
              <a:rPr lang="en-US" dirty="0"/>
              <a:t>Product categories</a:t>
            </a:r>
          </a:p>
          <a:p>
            <a:pPr marL="342900" lvl="0" indent="-342900" fontAlgn="t"/>
            <a:r>
              <a:rPr lang="en-US" dirty="0"/>
              <a:t>Brands</a:t>
            </a:r>
          </a:p>
          <a:p>
            <a:pPr marL="342900" lvl="0" indent="-342900" fontAlgn="t"/>
            <a:r>
              <a:rPr lang="en-US" dirty="0"/>
              <a:t>Sizes</a:t>
            </a:r>
          </a:p>
          <a:p>
            <a:pPr marL="342900" lvl="0" indent="-342900" fontAlgn="t"/>
            <a:r>
              <a:rPr lang="en-US" dirty="0"/>
              <a:t>Colors</a:t>
            </a:r>
          </a:p>
          <a:p>
            <a:pPr marL="342900" lvl="0" indent="-342900" fontAlgn="t"/>
            <a:r>
              <a:rPr lang="en-US" dirty="0"/>
              <a:t>Customer ratings</a:t>
            </a:r>
          </a:p>
          <a:p>
            <a:pPr marL="342900" lvl="0" indent="-342900" fontAlgn="t"/>
            <a:r>
              <a:rPr lang="en-US" dirty="0"/>
              <a:t>Inventory value</a:t>
            </a:r>
          </a:p>
          <a:p>
            <a:endParaRPr lang="en-US" dirty="0"/>
          </a:p>
        </p:txBody>
      </p:sp>
    </p:spTree>
    <p:extLst>
      <p:ext uri="{BB962C8B-B14F-4D97-AF65-F5344CB8AC3E}">
        <p14:creationId xmlns:p14="http://schemas.microsoft.com/office/powerpoint/2010/main" val="2217065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8B3C-57F6-CE75-A1BC-AFCAC48E14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204E0E-EA2B-0049-6D8D-B468E2CD287B}"/>
              </a:ext>
            </a:extLst>
          </p:cNvPr>
          <p:cNvSpPr>
            <a:spLocks noGrp="1"/>
          </p:cNvSpPr>
          <p:nvPr>
            <p:ph idx="1"/>
          </p:nvPr>
        </p:nvSpPr>
        <p:spPr/>
        <p:txBody>
          <a:bodyPr/>
          <a:lstStyle/>
          <a:p>
            <a:pPr fontAlgn="t">
              <a:buNone/>
            </a:pPr>
            <a:r>
              <a:rPr lang="en-US" b="1" dirty="0"/>
              <a:t>Business Problem</a:t>
            </a:r>
            <a:endParaRPr lang="en-US" dirty="0"/>
          </a:p>
          <a:p>
            <a:pPr fontAlgn="t">
              <a:buNone/>
            </a:pPr>
            <a:r>
              <a:rPr lang="en-US" dirty="0"/>
              <a:t>Fashion retailers need to:</a:t>
            </a:r>
          </a:p>
          <a:p>
            <a:pPr marL="342900" lvl="0" indent="-342900" fontAlgn="t"/>
            <a:r>
              <a:rPr lang="en-US" dirty="0"/>
              <a:t>Manage inventory efficiently</a:t>
            </a:r>
          </a:p>
          <a:p>
            <a:pPr marL="342900" lvl="0" indent="-342900" fontAlgn="t"/>
            <a:r>
              <a:rPr lang="en-US" dirty="0"/>
              <a:t>Understand product distribution</a:t>
            </a:r>
          </a:p>
          <a:p>
            <a:pPr marL="342900" lvl="0" indent="-342900" fontAlgn="t"/>
            <a:r>
              <a:rPr lang="en-US" dirty="0"/>
              <a:t>Identify high-value categories</a:t>
            </a:r>
          </a:p>
          <a:p>
            <a:pPr marL="342900" lvl="0" indent="-342900" fontAlgn="t"/>
            <a:r>
              <a:rPr lang="en-US" dirty="0"/>
              <a:t>Improve decision-making</a:t>
            </a:r>
          </a:p>
          <a:p>
            <a:endParaRPr lang="en-US" dirty="0"/>
          </a:p>
        </p:txBody>
      </p:sp>
    </p:spTree>
    <p:extLst>
      <p:ext uri="{BB962C8B-B14F-4D97-AF65-F5344CB8AC3E}">
        <p14:creationId xmlns:p14="http://schemas.microsoft.com/office/powerpoint/2010/main" val="170948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CE777-E15D-EDE7-28FF-7C194CAF84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CFFF73-6655-BE1C-4E76-330E9100758F}"/>
              </a:ext>
            </a:extLst>
          </p:cNvPr>
          <p:cNvSpPr>
            <a:spLocks noGrp="1"/>
          </p:cNvSpPr>
          <p:nvPr>
            <p:ph idx="1"/>
          </p:nvPr>
        </p:nvSpPr>
        <p:spPr/>
        <p:txBody>
          <a:bodyPr>
            <a:normAutofit lnSpcReduction="10000"/>
          </a:bodyPr>
          <a:lstStyle/>
          <a:p>
            <a:pPr fontAlgn="t">
              <a:buNone/>
            </a:pPr>
            <a:r>
              <a:rPr lang="en-US" b="1" dirty="0"/>
              <a:t>Dataset Overview</a:t>
            </a:r>
            <a:endParaRPr lang="en-US" dirty="0"/>
          </a:p>
          <a:p>
            <a:pPr fontAlgn="t">
              <a:buNone/>
            </a:pPr>
            <a:r>
              <a:rPr lang="en-US" dirty="0"/>
              <a:t>Dataset: Fashion Boutique Dataset</a:t>
            </a:r>
          </a:p>
          <a:p>
            <a:pPr fontAlgn="t">
              <a:buNone/>
            </a:pPr>
            <a:r>
              <a:rPr lang="en-US" dirty="0"/>
              <a:t>Attributes:</a:t>
            </a:r>
          </a:p>
          <a:p>
            <a:pPr marL="342900" lvl="0" indent="-342900" fontAlgn="t"/>
            <a:r>
              <a:rPr lang="en-US" dirty="0"/>
              <a:t>Brand</a:t>
            </a:r>
          </a:p>
          <a:p>
            <a:pPr marL="342900" lvl="0" indent="-342900" fontAlgn="t"/>
            <a:r>
              <a:rPr lang="en-US" dirty="0"/>
              <a:t>Category</a:t>
            </a:r>
          </a:p>
          <a:p>
            <a:pPr marL="342900" lvl="0" indent="-342900" fontAlgn="t"/>
            <a:r>
              <a:rPr lang="en-US" dirty="0"/>
              <a:t>Color</a:t>
            </a:r>
          </a:p>
          <a:p>
            <a:pPr marL="342900" lvl="0" indent="-342900" fontAlgn="t"/>
            <a:r>
              <a:rPr lang="en-US" dirty="0"/>
              <a:t>Size</a:t>
            </a:r>
          </a:p>
          <a:p>
            <a:pPr marL="342900" lvl="0" indent="-342900" fontAlgn="t"/>
            <a:r>
              <a:rPr lang="en-US" dirty="0"/>
              <a:t>Customer Rating</a:t>
            </a:r>
          </a:p>
          <a:p>
            <a:pPr marL="342900" lvl="0" indent="-342900" fontAlgn="t"/>
            <a:r>
              <a:rPr lang="en-US" dirty="0"/>
              <a:t>Inventory Value</a:t>
            </a:r>
          </a:p>
          <a:p>
            <a:endParaRPr lang="en-US" dirty="0"/>
          </a:p>
        </p:txBody>
      </p:sp>
    </p:spTree>
    <p:extLst>
      <p:ext uri="{BB962C8B-B14F-4D97-AF65-F5344CB8AC3E}">
        <p14:creationId xmlns:p14="http://schemas.microsoft.com/office/powerpoint/2010/main" val="1926929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C502A-2984-8402-257D-46BDF50591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1572DD-7738-0F19-6D7C-A79D333C5A51}"/>
              </a:ext>
            </a:extLst>
          </p:cNvPr>
          <p:cNvSpPr>
            <a:spLocks noGrp="1"/>
          </p:cNvSpPr>
          <p:nvPr>
            <p:ph idx="1"/>
          </p:nvPr>
        </p:nvSpPr>
        <p:spPr/>
        <p:txBody>
          <a:bodyPr/>
          <a:lstStyle/>
          <a:p>
            <a:pPr fontAlgn="t">
              <a:buNone/>
            </a:pPr>
            <a:r>
              <a:rPr lang="en-US" b="1" dirty="0"/>
              <a:t>Data Cleaning</a:t>
            </a:r>
            <a:endParaRPr lang="en-US" dirty="0"/>
          </a:p>
          <a:p>
            <a:pPr marL="342900" lvl="0" indent="-342900" fontAlgn="t"/>
            <a:r>
              <a:rPr lang="en-US" dirty="0"/>
              <a:t>Checked missing values</a:t>
            </a:r>
          </a:p>
          <a:p>
            <a:pPr marL="342900" lvl="0" indent="-342900" fontAlgn="t"/>
            <a:r>
              <a:rPr lang="en-US" dirty="0"/>
              <a:t>Removed duplicates</a:t>
            </a:r>
          </a:p>
          <a:p>
            <a:pPr marL="342900" lvl="0" indent="-342900" fontAlgn="t"/>
            <a:r>
              <a:rPr lang="en-US" dirty="0"/>
              <a:t>Verified data types</a:t>
            </a:r>
          </a:p>
          <a:p>
            <a:pPr marL="342900" lvl="0" indent="-342900" fontAlgn="t"/>
            <a:r>
              <a:rPr lang="en-US" dirty="0"/>
              <a:t>Prepared dataset for analysis</a:t>
            </a:r>
          </a:p>
          <a:p>
            <a:endParaRPr lang="en-US" dirty="0"/>
          </a:p>
        </p:txBody>
      </p:sp>
    </p:spTree>
    <p:extLst>
      <p:ext uri="{BB962C8B-B14F-4D97-AF65-F5344CB8AC3E}">
        <p14:creationId xmlns:p14="http://schemas.microsoft.com/office/powerpoint/2010/main" val="1254839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283C0-6C7E-F5EF-0023-95DDD494BD03}"/>
              </a:ext>
            </a:extLst>
          </p:cNvPr>
          <p:cNvSpPr>
            <a:spLocks noGrp="1"/>
          </p:cNvSpPr>
          <p:nvPr>
            <p:ph type="title"/>
          </p:nvPr>
        </p:nvSpPr>
        <p:spPr/>
        <p:txBody>
          <a:bodyPr>
            <a:normAutofit fontScale="90000"/>
          </a:bodyPr>
          <a:lstStyle/>
          <a:p>
            <a:r>
              <a:rPr lang="en-US" b="1" dirty="0">
                <a:effectLst/>
              </a:rPr>
              <a:t>Products by Category</a:t>
            </a:r>
            <a:br>
              <a:rPr lang="en-US" dirty="0"/>
            </a:br>
            <a:br>
              <a:rPr lang="en-US" dirty="0"/>
            </a:br>
            <a:br>
              <a:rPr lang="en-US" dirty="0"/>
            </a:br>
            <a:r>
              <a:rPr lang="en-US" dirty="0">
                <a:effectLst/>
              </a:rPr>
              <a:t>Text below chart:</a:t>
            </a:r>
            <a:br>
              <a:rPr lang="en-US" dirty="0"/>
            </a:br>
            <a:r>
              <a:rPr lang="en-US" dirty="0">
                <a:effectLst/>
              </a:rPr>
              <a:t>Accessories contain the highest number of products, while Dresses contain the fewest. Product distribution varies significantly across categories.</a:t>
            </a:r>
            <a:br>
              <a:rPr lang="en-US" dirty="0"/>
            </a:br>
            <a:endParaRPr lang="en-US" dirty="0"/>
          </a:p>
        </p:txBody>
      </p:sp>
      <p:pic>
        <p:nvPicPr>
          <p:cNvPr id="5" name="Content Placeholder 4">
            <a:extLst>
              <a:ext uri="{FF2B5EF4-FFF2-40B4-BE49-F238E27FC236}">
                <a16:creationId xmlns:a16="http://schemas.microsoft.com/office/drawing/2014/main" id="{A6272DAC-6413-3864-A26F-1A3A40AE41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0767" y="1825625"/>
            <a:ext cx="5450465" cy="4351338"/>
          </a:xfrm>
          <a:prstGeom prst="rect">
            <a:avLst/>
          </a:prstGeom>
        </p:spPr>
      </p:pic>
    </p:spTree>
    <p:extLst>
      <p:ext uri="{BB962C8B-B14F-4D97-AF65-F5344CB8AC3E}">
        <p14:creationId xmlns:p14="http://schemas.microsoft.com/office/powerpoint/2010/main" val="3258293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E95B-759A-A7D5-2478-DAAD4E327CC2}"/>
              </a:ext>
            </a:extLst>
          </p:cNvPr>
          <p:cNvSpPr>
            <a:spLocks noGrp="1"/>
          </p:cNvSpPr>
          <p:nvPr>
            <p:ph type="title"/>
          </p:nvPr>
        </p:nvSpPr>
        <p:spPr/>
        <p:txBody>
          <a:bodyPr>
            <a:normAutofit fontScale="90000"/>
          </a:bodyPr>
          <a:lstStyle/>
          <a:p>
            <a:r>
              <a:rPr lang="en-US" b="1" dirty="0">
                <a:effectLst/>
              </a:rPr>
              <a:t>Brand Distribution</a:t>
            </a:r>
            <a:br>
              <a:rPr lang="en-US" dirty="0"/>
            </a:br>
            <a:r>
              <a:rPr lang="en-US" dirty="0">
                <a:effectLst/>
              </a:rPr>
              <a:t>Zara has the highest number of products, followed closely by Banana Republic, Mango, and H&amp;M.</a:t>
            </a:r>
            <a:br>
              <a:rPr lang="en-US" dirty="0"/>
            </a:br>
            <a:endParaRPr lang="en-US" dirty="0"/>
          </a:p>
        </p:txBody>
      </p:sp>
      <p:pic>
        <p:nvPicPr>
          <p:cNvPr id="5" name="Content Placeholder 4">
            <a:extLst>
              <a:ext uri="{FF2B5EF4-FFF2-40B4-BE49-F238E27FC236}">
                <a16:creationId xmlns:a16="http://schemas.microsoft.com/office/drawing/2014/main" id="{5F9F9D78-D313-97A8-BE8E-9B482F4586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3597" y="1825625"/>
            <a:ext cx="6504805" cy="4351338"/>
          </a:xfrm>
          <a:prstGeom prst="rect">
            <a:avLst/>
          </a:prstGeom>
        </p:spPr>
      </p:pic>
    </p:spTree>
    <p:extLst>
      <p:ext uri="{BB962C8B-B14F-4D97-AF65-F5344CB8AC3E}">
        <p14:creationId xmlns:p14="http://schemas.microsoft.com/office/powerpoint/2010/main" val="428999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8EEEF-26D3-E034-FF46-F9468E19A2A5}"/>
              </a:ext>
            </a:extLst>
          </p:cNvPr>
          <p:cNvSpPr>
            <a:spLocks noGrp="1"/>
          </p:cNvSpPr>
          <p:nvPr>
            <p:ph type="title"/>
          </p:nvPr>
        </p:nvSpPr>
        <p:spPr/>
        <p:txBody>
          <a:bodyPr>
            <a:normAutofit fontScale="90000"/>
          </a:bodyPr>
          <a:lstStyle/>
          <a:p>
            <a:r>
              <a:rPr lang="en-US" b="1" dirty="0">
                <a:effectLst/>
              </a:rPr>
              <a:t>Category Performance Analysis</a:t>
            </a:r>
            <a:br>
              <a:rPr lang="en-US" dirty="0"/>
            </a:br>
            <a:br>
              <a:rPr lang="en-US" dirty="0"/>
            </a:br>
            <a:br>
              <a:rPr lang="en-US" dirty="0"/>
            </a:br>
            <a:r>
              <a:rPr lang="en-US" dirty="0">
                <a:effectLst/>
              </a:rPr>
              <a:t>Outerwear demonstrates the strongest category performance, followed by Shoes and Dresses.</a:t>
            </a:r>
            <a:br>
              <a:rPr lang="en-US" dirty="0"/>
            </a:br>
            <a:endParaRPr lang="en-US" dirty="0"/>
          </a:p>
        </p:txBody>
      </p:sp>
      <p:pic>
        <p:nvPicPr>
          <p:cNvPr id="5" name="Content Placeholder 4">
            <a:extLst>
              <a:ext uri="{FF2B5EF4-FFF2-40B4-BE49-F238E27FC236}">
                <a16:creationId xmlns:a16="http://schemas.microsoft.com/office/drawing/2014/main" id="{31ADFCC5-9430-5EDA-1020-6164DCC916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76446" y="2328545"/>
            <a:ext cx="4444747" cy="4351338"/>
          </a:xfrm>
          <a:prstGeom prst="rect">
            <a:avLst/>
          </a:prstGeom>
        </p:spPr>
      </p:pic>
    </p:spTree>
    <p:extLst>
      <p:ext uri="{BB962C8B-B14F-4D97-AF65-F5344CB8AC3E}">
        <p14:creationId xmlns:p14="http://schemas.microsoft.com/office/powerpoint/2010/main" val="353014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B7963-8186-CFBE-13A9-96FB0F4F0D76}"/>
              </a:ext>
            </a:extLst>
          </p:cNvPr>
          <p:cNvSpPr>
            <a:spLocks noGrp="1"/>
          </p:cNvSpPr>
          <p:nvPr>
            <p:ph type="title"/>
          </p:nvPr>
        </p:nvSpPr>
        <p:spPr/>
        <p:txBody>
          <a:bodyPr>
            <a:normAutofit fontScale="90000"/>
          </a:bodyPr>
          <a:lstStyle/>
          <a:p>
            <a:r>
              <a:rPr lang="en-US" b="1" dirty="0">
                <a:effectLst/>
              </a:rPr>
              <a:t>Product Size Distribution</a:t>
            </a:r>
            <a:br>
              <a:rPr lang="en-US" dirty="0"/>
            </a:br>
            <a:br>
              <a:rPr lang="en-US" dirty="0"/>
            </a:br>
            <a:br>
              <a:rPr lang="en-US" dirty="0"/>
            </a:br>
            <a:r>
              <a:rPr lang="en-US" dirty="0">
                <a:effectLst/>
              </a:rPr>
              <a:t>Products with Unknown size represent the largest group. Improving size information would improve inventory quality</a:t>
            </a:r>
            <a:br>
              <a:rPr lang="en-US" dirty="0"/>
            </a:br>
            <a:endParaRPr lang="en-US" dirty="0"/>
          </a:p>
        </p:txBody>
      </p:sp>
      <p:pic>
        <p:nvPicPr>
          <p:cNvPr id="5" name="Content Placeholder 4">
            <a:extLst>
              <a:ext uri="{FF2B5EF4-FFF2-40B4-BE49-F238E27FC236}">
                <a16:creationId xmlns:a16="http://schemas.microsoft.com/office/drawing/2014/main" id="{001B2FB0-FC7A-03AA-9AD4-C9E87402EC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90679" y="2620962"/>
            <a:ext cx="4679121" cy="4351338"/>
          </a:xfrm>
          <a:prstGeom prst="rect">
            <a:avLst/>
          </a:prstGeom>
        </p:spPr>
      </p:pic>
    </p:spTree>
    <p:extLst>
      <p:ext uri="{BB962C8B-B14F-4D97-AF65-F5344CB8AC3E}">
        <p14:creationId xmlns:p14="http://schemas.microsoft.com/office/powerpoint/2010/main" val="1411445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73AC6-7FED-7F4F-8B42-0987F5FC5D2D}"/>
              </a:ext>
            </a:extLst>
          </p:cNvPr>
          <p:cNvSpPr>
            <a:spLocks noGrp="1"/>
          </p:cNvSpPr>
          <p:nvPr>
            <p:ph type="title"/>
          </p:nvPr>
        </p:nvSpPr>
        <p:spPr>
          <a:xfrm>
            <a:off x="838200" y="1508760"/>
            <a:ext cx="10515600" cy="181928"/>
          </a:xfrm>
        </p:spPr>
        <p:txBody>
          <a:bodyPr>
            <a:normAutofit fontScale="90000"/>
          </a:bodyPr>
          <a:lstStyle/>
          <a:p>
            <a:r>
              <a:rPr lang="en-US" b="1" dirty="0">
                <a:effectLst/>
              </a:rPr>
              <a:t>Product Color Distribution</a:t>
            </a:r>
            <a:br>
              <a:rPr lang="en-US" dirty="0"/>
            </a:br>
            <a:br>
              <a:rPr lang="en-US" dirty="0"/>
            </a:br>
            <a:br>
              <a:rPr lang="en-US" dirty="0"/>
            </a:br>
            <a:r>
              <a:rPr lang="en-US" dirty="0">
                <a:effectLst/>
              </a:rPr>
              <a:t>Green, Black, and Red are the most represented colors in the inventory.</a:t>
            </a:r>
            <a:br>
              <a:rPr lang="en-US" dirty="0"/>
            </a:br>
            <a:endParaRPr lang="en-US" dirty="0"/>
          </a:p>
        </p:txBody>
      </p:sp>
      <p:pic>
        <p:nvPicPr>
          <p:cNvPr id="5" name="Content Placeholder 4">
            <a:extLst>
              <a:ext uri="{FF2B5EF4-FFF2-40B4-BE49-F238E27FC236}">
                <a16:creationId xmlns:a16="http://schemas.microsoft.com/office/drawing/2014/main" id="{55DA3414-BC89-260B-4C1B-F6228FEE58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21285" y="2944813"/>
            <a:ext cx="4949430" cy="4351338"/>
          </a:xfrm>
          <a:prstGeom prst="rect">
            <a:avLst/>
          </a:prstGeom>
        </p:spPr>
      </p:pic>
    </p:spTree>
    <p:extLst>
      <p:ext uri="{BB962C8B-B14F-4D97-AF65-F5344CB8AC3E}">
        <p14:creationId xmlns:p14="http://schemas.microsoft.com/office/powerpoint/2010/main" val="3061915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540B9-1955-6615-20F3-68717F6C166C}"/>
              </a:ext>
            </a:extLst>
          </p:cNvPr>
          <p:cNvSpPr>
            <a:spLocks noGrp="1"/>
          </p:cNvSpPr>
          <p:nvPr>
            <p:ph type="title"/>
          </p:nvPr>
        </p:nvSpPr>
        <p:spPr>
          <a:xfrm>
            <a:off x="838200" y="1623060"/>
            <a:ext cx="10515600" cy="67628"/>
          </a:xfrm>
        </p:spPr>
        <p:txBody>
          <a:bodyPr>
            <a:normAutofit fontScale="90000"/>
          </a:bodyPr>
          <a:lstStyle/>
          <a:p>
            <a:r>
              <a:rPr lang="en-US" b="1" dirty="0">
                <a:effectLst/>
              </a:rPr>
              <a:t>Customer Rating Distribution</a:t>
            </a:r>
            <a:br>
              <a:rPr lang="en-US" dirty="0"/>
            </a:br>
            <a:br>
              <a:rPr lang="en-US" dirty="0"/>
            </a:br>
            <a:br>
              <a:rPr lang="en-US" dirty="0"/>
            </a:br>
            <a:r>
              <a:rPr lang="en-US" dirty="0">
                <a:effectLst/>
              </a:rPr>
              <a:t>Most customer ratings cluster around 3 out of 5, indicating moderate customer satisfaction</a:t>
            </a:r>
            <a:br>
              <a:rPr lang="en-US" dirty="0"/>
            </a:br>
            <a:endParaRPr lang="en-US" dirty="0"/>
          </a:p>
        </p:txBody>
      </p:sp>
      <p:pic>
        <p:nvPicPr>
          <p:cNvPr id="5" name="Content Placeholder 4">
            <a:extLst>
              <a:ext uri="{FF2B5EF4-FFF2-40B4-BE49-F238E27FC236}">
                <a16:creationId xmlns:a16="http://schemas.microsoft.com/office/drawing/2014/main" id="{B865A358-44A6-EE41-CC62-8803E0B9A5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7034" y="2949730"/>
            <a:ext cx="5486411" cy="4160528"/>
          </a:xfrm>
          <a:prstGeom prst="rect">
            <a:avLst/>
          </a:prstGeom>
        </p:spPr>
      </p:pic>
    </p:spTree>
    <p:extLst>
      <p:ext uri="{BB962C8B-B14F-4D97-AF65-F5344CB8AC3E}">
        <p14:creationId xmlns:p14="http://schemas.microsoft.com/office/powerpoint/2010/main" val="1102898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CBCF-DBC4-2D74-3CC5-188DAB0DECDC}"/>
              </a:ext>
            </a:extLst>
          </p:cNvPr>
          <p:cNvSpPr>
            <a:spLocks noGrp="1"/>
          </p:cNvSpPr>
          <p:nvPr>
            <p:ph type="title"/>
          </p:nvPr>
        </p:nvSpPr>
        <p:spPr>
          <a:xfrm>
            <a:off x="838200" y="1644969"/>
            <a:ext cx="10515600" cy="45719"/>
          </a:xfrm>
        </p:spPr>
        <p:txBody>
          <a:bodyPr>
            <a:normAutofit fontScale="90000"/>
          </a:bodyPr>
          <a:lstStyle/>
          <a:p>
            <a:r>
              <a:rPr lang="en-US" b="1" dirty="0">
                <a:effectLst/>
              </a:rPr>
              <a:t>Inventory Value by Category</a:t>
            </a:r>
            <a:br>
              <a:rPr lang="en-US" dirty="0"/>
            </a:br>
            <a:br>
              <a:rPr lang="en-US" dirty="0"/>
            </a:br>
            <a:br>
              <a:rPr lang="en-US" dirty="0"/>
            </a:br>
            <a:r>
              <a:rPr lang="en-US" dirty="0">
                <a:effectLst/>
              </a:rPr>
              <a:t>Outerwear generates the highest inventory value, followed by Shoes. Accessories have the largest product count but the lowest inventory value</a:t>
            </a:r>
            <a:br>
              <a:rPr lang="en-US" dirty="0"/>
            </a:br>
            <a:endParaRPr lang="en-US" dirty="0"/>
          </a:p>
        </p:txBody>
      </p:sp>
      <p:pic>
        <p:nvPicPr>
          <p:cNvPr id="5" name="Content Placeholder 4">
            <a:extLst>
              <a:ext uri="{FF2B5EF4-FFF2-40B4-BE49-F238E27FC236}">
                <a16:creationId xmlns:a16="http://schemas.microsoft.com/office/drawing/2014/main" id="{C1FDB055-7C05-A553-3CDD-EA180E1AB2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98618" y="3429000"/>
            <a:ext cx="4246123" cy="4351338"/>
          </a:xfrm>
          <a:prstGeom prst="rect">
            <a:avLst/>
          </a:prstGeom>
        </p:spPr>
      </p:pic>
    </p:spTree>
    <p:extLst>
      <p:ext uri="{BB962C8B-B14F-4D97-AF65-F5344CB8AC3E}">
        <p14:creationId xmlns:p14="http://schemas.microsoft.com/office/powerpoint/2010/main" val="3475026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90DE1-A65B-26F3-6FF1-01051D529EBD}"/>
              </a:ext>
            </a:extLst>
          </p:cNvPr>
          <p:cNvSpPr>
            <a:spLocks noGrp="1"/>
          </p:cNvSpPr>
          <p:nvPr>
            <p:ph type="title"/>
          </p:nvPr>
        </p:nvSpPr>
        <p:spPr>
          <a:xfrm>
            <a:off x="838200" y="1600200"/>
            <a:ext cx="10515600" cy="90488"/>
          </a:xfrm>
        </p:spPr>
        <p:txBody>
          <a:bodyPr>
            <a:normAutofit fontScale="90000"/>
          </a:bodyPr>
          <a:lstStyle/>
          <a:p>
            <a:pPr fontAlgn="t"/>
            <a:r>
              <a:rPr lang="en-US" b="1" dirty="0"/>
              <a:t>Major Findings</a:t>
            </a:r>
            <a:br>
              <a:rPr lang="en-US" dirty="0"/>
            </a:br>
            <a:r>
              <a:rPr lang="en-US" dirty="0"/>
              <a:t>Accessories have the highest number of products.</a:t>
            </a:r>
            <a:br>
              <a:rPr lang="en-US" dirty="0"/>
            </a:br>
            <a:r>
              <a:rPr lang="en-US" dirty="0"/>
              <a:t>Zara has the most products among brands.</a:t>
            </a:r>
            <a:br>
              <a:rPr lang="en-US" dirty="0"/>
            </a:br>
            <a:r>
              <a:rPr lang="en-US" dirty="0"/>
              <a:t>Outerwear has the highest inventory value.</a:t>
            </a:r>
            <a:br>
              <a:rPr lang="en-US" dirty="0"/>
            </a:br>
            <a:r>
              <a:rPr lang="en-US" dirty="0"/>
              <a:t>Green is the most common color.</a:t>
            </a:r>
            <a:br>
              <a:rPr lang="en-US" dirty="0"/>
            </a:br>
            <a:r>
              <a:rPr lang="en-US" dirty="0"/>
              <a:t>Unknown size appears most frequently.</a:t>
            </a:r>
            <a:br>
              <a:rPr lang="en-US" dirty="0"/>
            </a:br>
            <a:r>
              <a:rPr lang="en-US" dirty="0"/>
              <a:t>Customer ratings center around 3.0.</a:t>
            </a:r>
            <a:br>
              <a:rPr lang="en-US" dirty="0"/>
            </a:br>
            <a:endParaRPr lang="en-US" dirty="0"/>
          </a:p>
        </p:txBody>
      </p:sp>
      <p:sp>
        <p:nvSpPr>
          <p:cNvPr id="3" name="Content Placeholder 2">
            <a:extLst>
              <a:ext uri="{FF2B5EF4-FFF2-40B4-BE49-F238E27FC236}">
                <a16:creationId xmlns:a16="http://schemas.microsoft.com/office/drawing/2014/main" id="{251EECA9-8323-D025-B9E9-B2E75FB2D0B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900435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C9033-7BB0-F540-6E53-7BB894F8F97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35858C-CEB2-11D5-008E-B983EEFD1488}"/>
              </a:ext>
            </a:extLst>
          </p:cNvPr>
          <p:cNvSpPr>
            <a:spLocks noGrp="1"/>
          </p:cNvSpPr>
          <p:nvPr>
            <p:ph idx="1"/>
          </p:nvPr>
        </p:nvSpPr>
        <p:spPr/>
        <p:txBody>
          <a:bodyPr/>
          <a:lstStyle/>
          <a:p>
            <a:endParaRPr lang="en-US" dirty="0"/>
          </a:p>
          <a:p>
            <a:pPr fontAlgn="t">
              <a:buNone/>
            </a:pPr>
            <a:r>
              <a:rPr lang="en-US" b="1" dirty="0"/>
              <a:t>Business Recommendations</a:t>
            </a:r>
            <a:endParaRPr lang="en-US" dirty="0"/>
          </a:p>
          <a:p>
            <a:pPr marL="342900" lvl="0" indent="-342900" fontAlgn="t"/>
            <a:r>
              <a:rPr lang="en-US" dirty="0"/>
              <a:t>Focus inventory investment on Outerwear and Shoes.</a:t>
            </a:r>
          </a:p>
          <a:p>
            <a:pPr marL="342900" lvl="0" indent="-342900" fontAlgn="t"/>
            <a:r>
              <a:rPr lang="en-US" dirty="0"/>
              <a:t>Improve product size data quality.</a:t>
            </a:r>
          </a:p>
          <a:p>
            <a:pPr marL="342900" lvl="0" indent="-342900" fontAlgn="t"/>
            <a:r>
              <a:rPr lang="en-US" dirty="0"/>
              <a:t>Monitor customer feedback to improve ratings.</a:t>
            </a:r>
          </a:p>
          <a:p>
            <a:pPr marL="342900" lvl="0" indent="-342900" fontAlgn="t"/>
            <a:r>
              <a:rPr lang="en-US" dirty="0"/>
              <a:t>Optimize stock allocation based on category value.</a:t>
            </a:r>
          </a:p>
          <a:p>
            <a:pPr marL="342900" lvl="0" indent="-342900" fontAlgn="t"/>
            <a:r>
              <a:rPr lang="en-US" dirty="0"/>
              <a:t>Continue tracking category trends for better planning.</a:t>
            </a:r>
          </a:p>
          <a:p>
            <a:endParaRPr lang="en-US" dirty="0"/>
          </a:p>
        </p:txBody>
      </p:sp>
    </p:spTree>
    <p:extLst>
      <p:ext uri="{BB962C8B-B14F-4D97-AF65-F5344CB8AC3E}">
        <p14:creationId xmlns:p14="http://schemas.microsoft.com/office/powerpoint/2010/main" val="2570834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1663-85E9-0020-DA41-C64E7BBA90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71BF79-553E-FD3C-7AF7-767B23563137}"/>
              </a:ext>
            </a:extLst>
          </p:cNvPr>
          <p:cNvSpPr>
            <a:spLocks noGrp="1"/>
          </p:cNvSpPr>
          <p:nvPr>
            <p:ph idx="1"/>
          </p:nvPr>
        </p:nvSpPr>
        <p:spPr/>
        <p:txBody>
          <a:bodyPr/>
          <a:lstStyle/>
          <a:p>
            <a:endParaRPr lang="en-US" dirty="0"/>
          </a:p>
          <a:p>
            <a:pPr fontAlgn="t">
              <a:buNone/>
            </a:pPr>
            <a:r>
              <a:rPr lang="en-US" b="1" dirty="0"/>
              <a:t>Conclusion</a:t>
            </a:r>
            <a:endParaRPr lang="en-US" dirty="0"/>
          </a:p>
          <a:p>
            <a:pPr fontAlgn="t">
              <a:buNone/>
            </a:pPr>
            <a:r>
              <a:rPr lang="en-US" dirty="0"/>
              <a:t>The analysis identified important inventory and product trends that can help improve inventory management, product strategy, and profitability.</a:t>
            </a:r>
          </a:p>
          <a:p>
            <a:endParaRPr lang="en-US" dirty="0"/>
          </a:p>
        </p:txBody>
      </p:sp>
    </p:spTree>
    <p:extLst>
      <p:ext uri="{BB962C8B-B14F-4D97-AF65-F5344CB8AC3E}">
        <p14:creationId xmlns:p14="http://schemas.microsoft.com/office/powerpoint/2010/main" val="390265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371</Words>
  <Application>Microsoft Office PowerPoint</Application>
  <PresentationFormat>Widescreen</PresentationFormat>
  <Paragraphs>47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Fashion Boutique Sales Analysis Capstone Project Prepared by: Ebuka Nnadozie </vt:lpstr>
      <vt:lpstr>PowerPoint Presentation</vt:lpstr>
      <vt:lpstr>PowerPoint Presentation</vt:lpstr>
      <vt:lpstr>PowerPoint Presentation</vt:lpstr>
      <vt:lpstr>PowerPoint Presentation</vt:lpstr>
      <vt:lpstr>Products by Category   Text below chart: Accessories contain the highest number of products, while Dresses contain the fewest. Product distribution varies significantly across categories. </vt:lpstr>
      <vt:lpstr>Brand Distribution Zara has the highest number of products, followed closely by Banana Republic, Mango, and H&amp;M. </vt:lpstr>
      <vt:lpstr>Category Performance Analysis   Outerwear demonstrates the strongest category performance, followed by Shoes and Dresses. </vt:lpstr>
      <vt:lpstr>Product Size Distribution   Products with Unknown size represent the largest group. Improving size information would improve inventory quality </vt:lpstr>
      <vt:lpstr>Product Color Distribution   Green, Black, and Red are the most represented colors in the inventory. </vt:lpstr>
      <vt:lpstr>Customer Rating Distribution   Most customer ratings cluster around 3 out of 5, indicating moderate customer satisfaction </vt:lpstr>
      <vt:lpstr>Inventory Value by Category   Outerwear generates the highest inventory value, followed by Shoes. Accessories have the largest product count but the lowest inventory value </vt:lpstr>
      <vt:lpstr>Major Findings Accessories have the highest number of products. Zara has the most products among brands. Outerwear has the highest inventory value. Green is the most common color. Unknown size appears most frequently. Customer ratings center around 3.0.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NNADOZIE EBUKA</dc:creator>
  <cp:lastModifiedBy>NNADOZIE EBUKA</cp:lastModifiedBy>
  <cp:revision>1</cp:revision>
  <dcterms:created xsi:type="dcterms:W3CDTF">2026-10-23T02:08:41Z</dcterms:created>
  <dcterms:modified xsi:type="dcterms:W3CDTF">2026-10-23T02:44:14Z</dcterms:modified>
</cp:coreProperties>
</file>